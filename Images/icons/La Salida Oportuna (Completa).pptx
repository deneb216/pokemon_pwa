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DM Sans"/>
      <ns0:bold ns1:id="rIdFont16"/>
      <ns0:regular ns1:id="rIdFont17"/>
    </ns0:embeddedFont>
    <ns0:embeddedFont>
      <ns0:font typeface="Playfair Display"/>
      <ns0:bold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16bbcf1d-c855-4dbd-913d-6fb58d5ef524.fntdata" /><ns0:Relationship Id="rIdFont17" Type="http://schemas.openxmlformats.org/officeDocument/2006/relationships/font" Target="fonts/d223bc39-4a36-4414-b258-9e7885527f43.fntdata" /><ns0:Relationship Id="rIdFont18" Type="http://schemas.openxmlformats.org/officeDocument/2006/relationships/font" Target="fonts/1f07c7c0-80f6-4bab-8885-2d40713a531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926085"/>
            <a:ext cx="762000" cy="19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4140" y="2312640"/>
            <a:ext cx="3083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D97706"/>
                </a:solidFill>
                <a:latin typeface="DM Sans"/>
              </a:rPr>
              <a:t>ESTRATEGIA AVANZADA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2910" y="2741265"/>
            <a:ext cx="9426178" cy="88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930"/>
              </a:lnSpc>
            </a:pPr>
            <a:r>
              <a:rPr b="1" sz="6300" i="0" u="none">
                <a:solidFill>
                  <a:srgbClr val="FFFFFF"/>
                </a:solidFill>
                <a:latin typeface="Playfair Display"/>
              </a:rPr>
              <a:t>La Salida Oportuna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2484" y="4249935"/>
            <a:ext cx="672703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DM Sans"/>
              </a:rPr>
              <a:t>El poder de retirarse como máxima ventaja táctica.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4572000" cy="609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4227016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4808041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5389066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230808"/>
            <a:ext cx="6248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DM Sans"/>
              </a:rPr>
              <a:t>EL CONCEPTO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83233"/>
            <a:ext cx="5860732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90E17"/>
                </a:solidFill>
                <a:latin typeface="Playfair Display"/>
              </a:rPr>
              <a:t>Decisión Estratégica Consciente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61394"/>
            <a:ext cx="55816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DM Sans"/>
              </a:rPr>
              <a:t>No es un fracaso ni una rabieta. Es la capacidad de abandonar una mesa desfavorable.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4188916"/>
            <a:ext cx="39171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DM Sans"/>
              </a:rPr>
              <a:t>Protección de intereses vitales.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75" y="4769941"/>
            <a:ext cx="36314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DM Sans"/>
              </a:rPr>
              <a:t>Máxima expresión de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5350966"/>
            <a:ext cx="3214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DM Sans"/>
              </a:rPr>
              <a:t>Dominio psicológico total.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1981200"/>
            <a:ext cx="47625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0" y="1981200"/>
            <a:ext cx="47625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1981200"/>
            <a:ext cx="4762500" cy="571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1981200"/>
            <a:ext cx="47625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76400" y="4038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764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76400" y="4914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9900" y="4038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199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9900" y="4914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285750" y="762000"/>
            <a:ext cx="127635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90E17"/>
                </a:solidFill>
                <a:latin typeface="Playfair Display"/>
              </a:rPr>
              <a:t>Preparación: Conceptos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2571750"/>
            <a:ext cx="485060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90E17"/>
                </a:solidFill>
                <a:latin typeface="Playfair Display"/>
              </a:rPr>
              <a:t>MAAN (Plan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3105150"/>
            <a:ext cx="4619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MEJOR ALTERNATIVA A UN ACUERDO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2571750"/>
            <a:ext cx="485060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90E17"/>
                </a:solidFill>
                <a:latin typeface="Playfair Display"/>
              </a:rPr>
              <a:t>Punto de Reserva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3105150"/>
            <a:ext cx="4619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EL LÍMITE INFERIOR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4038600"/>
            <a:ext cx="461962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Acción concreta si el trato fracasa.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6400" y="4476750"/>
            <a:ext cx="461962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Multiplica el poder de retiro.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4914900"/>
            <a:ext cx="461962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Facilita la ejecución de la salida.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900" y="4038600"/>
            <a:ext cx="461962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Línea roja absoluta.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900" y="4476750"/>
            <a:ext cx="461962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Precio máximo a pagar.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4914900"/>
            <a:ext cx="4619625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Salida obligatoria si se cruza.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24562" y="0"/>
            <a:ext cx="6167437" cy="6858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86562" y="21764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86562" y="31384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86562" y="410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010965"/>
            <a:ext cx="58042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DM Sans"/>
              </a:rPr>
              <a:t>PASO PREVIO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63390"/>
            <a:ext cx="4975621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90E17"/>
                </a:solidFill>
                <a:latin typeface="Playfair Display"/>
              </a:rPr>
              <a:t>La Pausa Estratégica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41551"/>
            <a:ext cx="4738687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DM Sans"/>
              </a:rPr>
              <a:t>Antes de abandonar definitivamente, congela la discusión. Otorga perspectiva y desactiva tensiones.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3687" y="21764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90E17"/>
                </a:solidFill>
                <a:latin typeface="DM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2362" y="2176462"/>
            <a:ext cx="3114675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90E17"/>
                </a:solidFill>
                <a:latin typeface="DM Sans"/>
              </a:rPr>
              <a:t>Suspensión Temporal</a:t>
            </a:r>
            <a:r>
              <a:rPr b="1" sz="1650" i="0" u="none">
                <a:solidFill>
                  <a:srgbClr val="090E17"/>
                </a:solidFill>
                <a:latin typeface="DM Sans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DM Sans"/>
              </a:rPr>
              <a:t>Solicitar tiempo para revisar números.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3687" y="3138487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90E17"/>
                </a:solidFill>
                <a:latin typeface="DM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2362" y="3138487"/>
            <a:ext cx="3228975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90E17"/>
                </a:solidFill>
                <a:latin typeface="DM Sans"/>
              </a:rPr>
              <a:t>Validación de Alternativas</a:t>
            </a:r>
            <a:r>
              <a:rPr b="1" sz="1650" i="0" u="none">
                <a:solidFill>
                  <a:srgbClr val="090E17"/>
                </a:solidFill>
                <a:latin typeface="DM Sans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DM Sans"/>
              </a:rPr>
              <a:t>Confirmar vigencia operativa del Plan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3687" y="41005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90E17"/>
                </a:solidFill>
                <a:latin typeface="DM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2362" y="4100512"/>
            <a:ext cx="361950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90E17"/>
                </a:solidFill>
                <a:latin typeface="DM Sans"/>
              </a:rPr>
              <a:t>Advertencia Objetiva</a:t>
            </a:r>
            <a:r>
              <a:rPr b="1" sz="1650" i="0" u="none">
                <a:solidFill>
                  <a:srgbClr val="090E17"/>
                </a:solidFill>
                <a:latin typeface="DM Sans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DM Sans"/>
              </a:rPr>
              <a:t>Comunicar riesgo de ruptura sin ultimátums.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157662"/>
            <a:ext cx="5143500" cy="1190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0" y="4157662"/>
            <a:ext cx="5143500" cy="1190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157662"/>
            <a:ext cx="51435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4157662"/>
            <a:ext cx="51435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09712"/>
            <a:ext cx="5625703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90E17"/>
                </a:solidFill>
                <a:latin typeface="Playfair Display"/>
              </a:rPr>
              <a:t>Indicadores Críticos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8375" y="1871662"/>
            <a:ext cx="19645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D97706"/>
                </a:solidFill>
                <a:latin typeface="DM Sans"/>
              </a:rPr>
              <a:t>Señales de Retiro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824162"/>
            <a:ext cx="561975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Playfair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824162"/>
            <a:ext cx="6286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Playfair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395787"/>
            <a:ext cx="6096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Playfair Display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4395787"/>
            <a:ext cx="6286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Playfair Display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325" y="2824162"/>
            <a:ext cx="583822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90E17"/>
                </a:solidFill>
                <a:latin typeface="DM Sans"/>
              </a:rPr>
              <a:t>Destrucción de 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7325" y="3262312"/>
            <a:ext cx="4543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El acuerdo cuesta más recursos (tiempo, dinero) de los que aporta.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0" y="2824162"/>
            <a:ext cx="5143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90E17"/>
                </a:solidFill>
                <a:latin typeface="DM Sans"/>
              </a:rPr>
              <a:t>Falta de Ética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0" y="3262312"/>
            <a:ext cx="4476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Ocultamiento de información, mentiras o tácticas de mala 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50" y="4395787"/>
            <a:ext cx="577572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90E17"/>
                </a:solidFill>
                <a:latin typeface="DM Sans"/>
              </a:rPr>
              <a:t>Desgaste Prolongado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4833937"/>
            <a:ext cx="4495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Proceso alargado indefinidamente sin concesiones para generar desesperación.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0" y="4395787"/>
            <a:ext cx="5143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90E17"/>
                </a:solidFill>
                <a:latin typeface="DM Sans"/>
              </a:rPr>
              <a:t>Incompatibilidad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4833937"/>
            <a:ext cx="4476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Choque cultural que garantiza conflictos futuros de implementación.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981200"/>
            <a:ext cx="3302049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45049" y="1981200"/>
            <a:ext cx="3302049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1981200"/>
            <a:ext cx="3302049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450" y="244792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87" y="2447925"/>
            <a:ext cx="4286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924" y="2447925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90E17"/>
                </a:solidFill>
                <a:latin typeface="Playfair Display"/>
              </a:rPr>
              <a:t>Ejecución Táctica y Elegante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9082" y="3133725"/>
            <a:ext cx="1887735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90E17"/>
                </a:solidFill>
                <a:latin typeface="Playfair Display"/>
              </a:rPr>
              <a:t>Objetividad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150" y="3638550"/>
            <a:ext cx="33417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Justificación estricta con datos. Sin enojo ni emociones.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3298" y="3133725"/>
            <a:ext cx="3225403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90E17"/>
                </a:solidFill>
                <a:latin typeface="Playfair Display"/>
              </a:rPr>
              <a:t>Puerta Entreabierta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199" y="3638550"/>
            <a:ext cx="33417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Rechazar la oferta actual, no a la persona ni a tratos futuros.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373" y="3133725"/>
            <a:ext cx="2825353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90E17"/>
                </a:solidFill>
                <a:latin typeface="Playfair Display"/>
              </a:rPr>
              <a:t>Silencio Absoluto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8249" y="3638550"/>
            <a:ext cx="334174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Ausencia de contacto posterior. Demuestra que no es un farol.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981200"/>
            <a:ext cx="3352800" cy="411480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9600" y="1981200"/>
            <a:ext cx="3352800" cy="411480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7200" y="1981200"/>
            <a:ext cx="3352800" cy="411480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981200"/>
            <a:ext cx="38100" cy="41148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1981200"/>
            <a:ext cx="38100" cy="41148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1981200"/>
            <a:ext cx="38100" cy="41148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438400"/>
            <a:ext cx="27051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2438400"/>
            <a:ext cx="27051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2438400"/>
            <a:ext cx="27051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285750" y="762000"/>
            <a:ext cx="127635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90E17"/>
                </a:solidFill>
                <a:latin typeface="Playfair Display"/>
              </a:rPr>
              <a:t>Trampas y Errores Fatales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971800"/>
            <a:ext cx="35504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90E17"/>
                </a:solidFill>
                <a:latin typeface="DM Sans"/>
              </a:rPr>
              <a:t>El Farol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419475"/>
            <a:ext cx="2800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Amenazar con retirarse sin tener un MAAN real. Si el rival no cede, quedas expuesto.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2971800"/>
            <a:ext cx="35504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90E17"/>
                </a:solidFill>
                <a:latin typeface="DM Sans"/>
              </a:rPr>
              <a:t>Arrebato Emocional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0" y="3419475"/>
            <a:ext cx="2800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Abandonar por ego perdiendo objetividad. Destruye relaciones a largo plazo.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100" y="2971800"/>
            <a:ext cx="35504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90E17"/>
                </a:solidFill>
                <a:latin typeface="DM Sans"/>
              </a:rPr>
              <a:t>Retorno Desesperado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0100" y="3419475"/>
            <a:ext cx="2800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DM Sans"/>
              </a:rPr>
              <a:t>Romper el silencio para rogar reiniciar el trato. Anula por completo tu credibilidad.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5331916"/>
            <a:ext cx="1143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507033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5046" y="2421433"/>
            <a:ext cx="3821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D97706"/>
                </a:solidFill>
                <a:latin typeface="DM Sans"/>
              </a:rPr>
              <a:t>EL IMPACTO PSICOLÓGICO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766" y="2802433"/>
            <a:ext cx="7738467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Playfair Display"/>
              </a:rPr>
              <a:t>El Efecto Boomerang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777704"/>
            <a:ext cx="9525000" cy="1097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DM Sans"/>
              </a:rPr>
              <a:t>La salida oportuna activa la aversión a la pérdida en la contraparte. Al retirarte de verdad, a menudo obligas al otro a revelar su verdadero límite y ofrecer concesiones que juraban imposibles.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572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DM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09650"/>
            <a:ext cx="100488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DM Sans"/>
              </a:rPr>
              <a:t>https://img.magnific.com/premium-photo/clean-minimalist-line-icons-set-business-strategy-productivity-concepts-monochrome-with-high-quality-professional-line-art-symbols-modern-creative-design-digital-branding-projects_945233-1202.jpg?semt=ais_hybrid&amp;w=740&amp;q=80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81125"/>
            <a:ext cx="230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